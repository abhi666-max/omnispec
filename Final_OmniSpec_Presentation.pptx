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embeddedFontLst>
    <p:embeddedFont>
      <p:font typeface="Google Sans"/>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font" Target="fonts/GoogleSans-regular.fntdata"/><Relationship Id="rId23" Type="http://schemas.openxmlformats.org/officeDocument/2006/relationships/font" Target="fonts/GoogleSans-bold.fntdata"/><Relationship Id="rId24" Type="http://schemas.openxmlformats.org/officeDocument/2006/relationships/font" Target="fonts/GoogleSans-italic.fntdata"/><Relationship Id="rId25" Type="http://schemas.openxmlformats.org/officeDocument/2006/relationships/font" Target="fonts/Google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97113ba4d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g3f97113ba4d_0_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f97113ba4d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4" name="Google Shape;104;g3f97113ba4d_0_1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f97113ba4d_0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0" name="Google Shape;110;g3f97113ba4d_0_1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f971cbf117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f971cbf117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97113ba4d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2" name="Google Shape;122;g3f97113ba4d_0_1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f97113ba4d_0_1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8" name="Google Shape;128;g3f97113ba4d_0_1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f97113ba4d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4" name="Google Shape;134;g3f97113ba4d_0_1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f97113ba4d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g3f97113ba4d_0_1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97113ba4d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g3f97113ba4d_0_1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f97113ba4d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2" name="Google Shape;152;g3f97113ba4d_0_1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f97113ba4d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8" name="Google Shape;158;g3f97113ba4d_0_1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f97113ba4d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4" name="Google Shape;164;g3f97113ba4d_0_1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f97113ba4d_0_1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0" name="Google Shape;170;g3f97113ba4d_0_15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f97113ba4d_0_1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6" name="Google Shape;176;g3f97113ba4d_0_1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f97113ba4d_0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g3f97113ba4d_0_1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56" name="Google Shape;56;p1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57" name="Google Shape;57;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8" name="Shape 58"/>
        <p:cNvGrpSpPr/>
        <p:nvPr/>
      </p:nvGrpSpPr>
      <p:grpSpPr>
        <a:xfrm>
          <a:off x="0" y="0"/>
          <a:ext cx="0" cy="0"/>
          <a:chOff x="0" y="0"/>
          <a:chExt cx="0" cy="0"/>
        </a:xfrm>
      </p:grpSpPr>
      <p:sp>
        <p:nvSpPr>
          <p:cNvPr id="59" name="Google Shape;59;p15"/>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60" name="Google Shape;60;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1" name="Shape 61"/>
        <p:cNvGrpSpPr/>
        <p:nvPr/>
      </p:nvGrpSpPr>
      <p:grpSpPr>
        <a:xfrm>
          <a:off x="0" y="0"/>
          <a:ext cx="0" cy="0"/>
          <a:chOff x="0" y="0"/>
          <a:chExt cx="0" cy="0"/>
        </a:xfrm>
      </p:grpSpPr>
      <p:sp>
        <p:nvSpPr>
          <p:cNvPr id="62" name="Google Shape;62;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3" name="Google Shape;63;p1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64" name="Google Shape;64;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5" name="Shape 65"/>
        <p:cNvGrpSpPr/>
        <p:nvPr/>
      </p:nvGrpSpPr>
      <p:grpSpPr>
        <a:xfrm>
          <a:off x="0" y="0"/>
          <a:ext cx="0" cy="0"/>
          <a:chOff x="0" y="0"/>
          <a:chExt cx="0" cy="0"/>
        </a:xfrm>
      </p:grpSpPr>
      <p:sp>
        <p:nvSpPr>
          <p:cNvPr id="66" name="Google Shape;66;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7" name="Google Shape;67;p1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8" name="Google Shape;68;p1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 name="Google Shape;69;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2" name="Google Shape;72;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3" name="Shape 73"/>
        <p:cNvGrpSpPr/>
        <p:nvPr/>
      </p:nvGrpSpPr>
      <p:grpSpPr>
        <a:xfrm>
          <a:off x="0" y="0"/>
          <a:ext cx="0" cy="0"/>
          <a:chOff x="0" y="0"/>
          <a:chExt cx="0" cy="0"/>
        </a:xfrm>
      </p:grpSpPr>
      <p:sp>
        <p:nvSpPr>
          <p:cNvPr id="74" name="Google Shape;74;p1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75" name="Google Shape;75;p1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6" name="Google Shape;76;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7" name="Shape 77"/>
        <p:cNvGrpSpPr/>
        <p:nvPr/>
      </p:nvGrpSpPr>
      <p:grpSpPr>
        <a:xfrm>
          <a:off x="0" y="0"/>
          <a:ext cx="0" cy="0"/>
          <a:chOff x="0" y="0"/>
          <a:chExt cx="0" cy="0"/>
        </a:xfrm>
      </p:grpSpPr>
      <p:sp>
        <p:nvSpPr>
          <p:cNvPr id="78" name="Google Shape;78;p2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79" name="Google Shape;79;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2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83" name="Google Shape;83;p2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84" name="Google Shape;84;p2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85" name="Google Shape;85;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6" name="Shape 86"/>
        <p:cNvGrpSpPr/>
        <p:nvPr/>
      </p:nvGrpSpPr>
      <p:grpSpPr>
        <a:xfrm>
          <a:off x="0" y="0"/>
          <a:ext cx="0" cy="0"/>
          <a:chOff x="0" y="0"/>
          <a:chExt cx="0" cy="0"/>
        </a:xfrm>
      </p:grpSpPr>
      <p:sp>
        <p:nvSpPr>
          <p:cNvPr id="87" name="Google Shape;87;p2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8" name="Google Shape;88;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9" name="Shape 89"/>
        <p:cNvGrpSpPr/>
        <p:nvPr/>
      </p:nvGrpSpPr>
      <p:grpSpPr>
        <a:xfrm>
          <a:off x="0" y="0"/>
          <a:ext cx="0" cy="0"/>
          <a:chOff x="0" y="0"/>
          <a:chExt cx="0" cy="0"/>
        </a:xfrm>
      </p:grpSpPr>
      <p:sp>
        <p:nvSpPr>
          <p:cNvPr id="90" name="Google Shape;90;p2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1" name="Google Shape;91;p2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92" name="Google Shape;92;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52" name="Google Shape;52;p1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pic>
        <p:nvPicPr>
          <p:cNvPr id="99" name="Google Shape;99;p25"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00" name="Google Shape;100;p25"/>
          <p:cNvSpPr txBox="1"/>
          <p:nvPr/>
        </p:nvSpPr>
        <p:spPr>
          <a:xfrm>
            <a:off x="436625" y="881025"/>
            <a:ext cx="8943000" cy="561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4000"/>
              <a:buFont typeface="Arial"/>
              <a:buNone/>
            </a:pPr>
            <a:r>
              <a:rPr b="1" i="0" lang="en-GB" sz="4000" u="none" cap="none" strike="noStrike">
                <a:solidFill>
                  <a:schemeClr val="accent1"/>
                </a:solidFill>
                <a:latin typeface="Google Sans"/>
                <a:ea typeface="Google Sans"/>
                <a:cs typeface="Google Sans"/>
                <a:sym typeface="Google Sans"/>
              </a:rPr>
              <a:t>Guidelines</a:t>
            </a:r>
            <a:endParaRPr b="1" i="0" sz="4000" u="none" cap="none" strike="noStrike">
              <a:solidFill>
                <a:schemeClr val="accent1"/>
              </a:solidFill>
              <a:latin typeface="Google Sans"/>
              <a:ea typeface="Google Sans"/>
              <a:cs typeface="Google Sans"/>
              <a:sym typeface="Google Sans"/>
            </a:endParaRPr>
          </a:p>
        </p:txBody>
      </p:sp>
      <p:sp>
        <p:nvSpPr>
          <p:cNvPr id="101" name="Google Shape;101;p25"/>
          <p:cNvSpPr txBox="1"/>
          <p:nvPr/>
        </p:nvSpPr>
        <p:spPr>
          <a:xfrm>
            <a:off x="609900" y="1711275"/>
            <a:ext cx="7924200" cy="1982400"/>
          </a:xfrm>
          <a:prstGeom prst="rect">
            <a:avLst/>
          </a:prstGeom>
          <a:noFill/>
          <a:ln>
            <a:noFill/>
          </a:ln>
        </p:spPr>
        <p:txBody>
          <a:bodyPr anchorCtr="0" anchor="t" bIns="91425" lIns="91425" spcFirstLastPara="1" rIns="91425" wrap="square" tIns="91425">
            <a:noAutofit/>
          </a:bodyPr>
          <a:lstStyle/>
          <a:p>
            <a:pPr indent="-323850" lvl="0" marL="457200" marR="0" rtl="0" algn="l">
              <a:lnSpc>
                <a:spcPct val="100000"/>
              </a:lnSpc>
              <a:spcBef>
                <a:spcPts val="0"/>
              </a:spcBef>
              <a:spcAft>
                <a:spcPts val="0"/>
              </a:spcAft>
              <a:buClr>
                <a:srgbClr val="434343"/>
              </a:buClr>
              <a:buSzPts val="1500"/>
              <a:buFont typeface="Google Sans"/>
              <a:buChar char="●"/>
            </a:pPr>
            <a:r>
              <a:rPr b="0" i="0" lang="en-GB" sz="1500" u="none" cap="none" strike="noStrike">
                <a:solidFill>
                  <a:srgbClr val="434343"/>
                </a:solidFill>
                <a:latin typeface="Google Sans"/>
                <a:ea typeface="Google Sans"/>
                <a:cs typeface="Google Sans"/>
                <a:sym typeface="Google Sans"/>
              </a:rPr>
              <a:t>Kindly use the given template for submitting your </a:t>
            </a:r>
            <a:r>
              <a:rPr lang="en-GB" sz="1500">
                <a:solidFill>
                  <a:srgbClr val="434343"/>
                </a:solidFill>
                <a:latin typeface="Google Sans"/>
                <a:ea typeface="Google Sans"/>
                <a:cs typeface="Google Sans"/>
                <a:sym typeface="Google Sans"/>
              </a:rPr>
              <a:t>prototype</a:t>
            </a:r>
            <a:r>
              <a:rPr b="0" i="0" lang="en-GB" sz="1500" u="none" cap="none" strike="noStrike">
                <a:solidFill>
                  <a:srgbClr val="434343"/>
                </a:solidFill>
                <a:latin typeface="Google Sans"/>
                <a:ea typeface="Google Sans"/>
                <a:cs typeface="Google Sans"/>
                <a:sym typeface="Google Sans"/>
              </a:rPr>
              <a:t>(Make a copy of the template)</a:t>
            </a:r>
            <a:endParaRPr b="0" i="0" sz="1500" u="none" cap="none" strike="noStrike">
              <a:solidFill>
                <a:srgbClr val="434343"/>
              </a:solidFill>
              <a:latin typeface="Google Sans"/>
              <a:ea typeface="Google Sans"/>
              <a:cs typeface="Google Sans"/>
              <a:sym typeface="Google Sans"/>
            </a:endParaRPr>
          </a:p>
          <a:p>
            <a:pPr indent="-323850" lvl="0" marL="457200" marR="0" rtl="0" algn="l">
              <a:lnSpc>
                <a:spcPct val="100000"/>
              </a:lnSpc>
              <a:spcBef>
                <a:spcPts val="0"/>
              </a:spcBef>
              <a:spcAft>
                <a:spcPts val="0"/>
              </a:spcAft>
              <a:buClr>
                <a:srgbClr val="434343"/>
              </a:buClr>
              <a:buSzPts val="1500"/>
              <a:buFont typeface="Google Sans"/>
              <a:buChar char="●"/>
            </a:pPr>
            <a:r>
              <a:rPr b="0" i="0" lang="en-GB" sz="1500" u="none" cap="none" strike="noStrike">
                <a:solidFill>
                  <a:srgbClr val="434343"/>
                </a:solidFill>
                <a:latin typeface="Google Sans"/>
                <a:ea typeface="Google Sans"/>
                <a:cs typeface="Google Sans"/>
                <a:sym typeface="Google Sans"/>
              </a:rPr>
              <a:t>One team is only required to submit one project.</a:t>
            </a:r>
            <a:endParaRPr b="0" i="0" sz="1500" u="none" cap="none" strike="noStrike">
              <a:solidFill>
                <a:srgbClr val="434343"/>
              </a:solidFill>
              <a:latin typeface="Google Sans"/>
              <a:ea typeface="Google Sans"/>
              <a:cs typeface="Google Sans"/>
              <a:sym typeface="Google Sans"/>
            </a:endParaRPr>
          </a:p>
          <a:p>
            <a:pPr indent="-323850" lvl="0" marL="457200" marR="0" rtl="0" algn="l">
              <a:lnSpc>
                <a:spcPct val="100000"/>
              </a:lnSpc>
              <a:spcBef>
                <a:spcPts val="0"/>
              </a:spcBef>
              <a:spcAft>
                <a:spcPts val="0"/>
              </a:spcAft>
              <a:buClr>
                <a:srgbClr val="434343"/>
              </a:buClr>
              <a:buSzPts val="1500"/>
              <a:buFont typeface="Google Sans"/>
              <a:buChar char="●"/>
            </a:pPr>
            <a:r>
              <a:rPr lang="en-GB" sz="1500">
                <a:solidFill>
                  <a:srgbClr val="434343"/>
                </a:solidFill>
                <a:latin typeface="Google Sans"/>
                <a:ea typeface="Google Sans"/>
                <a:cs typeface="Google Sans"/>
                <a:sym typeface="Google Sans"/>
              </a:rPr>
              <a:t>Follow this template while preparing your presentation.</a:t>
            </a:r>
            <a:endParaRPr b="0" i="0" sz="1500" u="none" cap="none" strike="noStrike">
              <a:solidFill>
                <a:srgbClr val="434343"/>
              </a:solidFill>
              <a:latin typeface="Google Sans"/>
              <a:ea typeface="Google Sans"/>
              <a:cs typeface="Google Sans"/>
              <a:sym typeface="Google Sans"/>
            </a:endParaRPr>
          </a:p>
          <a:p>
            <a:pPr indent="-323850" lvl="0" marL="457200" marR="0" rtl="0" algn="l">
              <a:lnSpc>
                <a:spcPct val="100000"/>
              </a:lnSpc>
              <a:spcBef>
                <a:spcPts val="0"/>
              </a:spcBef>
              <a:spcAft>
                <a:spcPts val="0"/>
              </a:spcAft>
              <a:buClr>
                <a:srgbClr val="434343"/>
              </a:buClr>
              <a:buSzPts val="1500"/>
              <a:buFont typeface="Google Sans"/>
              <a:buChar char="●"/>
            </a:pPr>
            <a:r>
              <a:rPr b="0" i="0" lang="en-GB" sz="1500" u="none" cap="none" strike="noStrike">
                <a:solidFill>
                  <a:srgbClr val="434343"/>
                </a:solidFill>
                <a:latin typeface="Google Sans"/>
                <a:ea typeface="Google Sans"/>
                <a:cs typeface="Google Sans"/>
                <a:sym typeface="Google Sans"/>
              </a:rPr>
              <a:t>You are welcome to add as many POCs and design concepts to support your project.</a:t>
            </a:r>
            <a:endParaRPr b="0" i="0" sz="1500" u="none" cap="none" strike="noStrike">
              <a:solidFill>
                <a:srgbClr val="434343"/>
              </a:solidFill>
              <a:latin typeface="Google Sans"/>
              <a:ea typeface="Google Sans"/>
              <a:cs typeface="Google Sans"/>
              <a:sym typeface="Google Sans"/>
            </a:endParaRPr>
          </a:p>
          <a:p>
            <a:pPr indent="-323850" lvl="0" marL="457200" marR="0" rtl="0" algn="l">
              <a:lnSpc>
                <a:spcPct val="100000"/>
              </a:lnSpc>
              <a:spcBef>
                <a:spcPts val="0"/>
              </a:spcBef>
              <a:spcAft>
                <a:spcPts val="0"/>
              </a:spcAft>
              <a:buClr>
                <a:srgbClr val="434343"/>
              </a:buClr>
              <a:buSzPts val="1500"/>
              <a:buFont typeface="Google Sans"/>
              <a:buChar char="●"/>
            </a:pPr>
            <a:r>
              <a:rPr b="0" i="0" lang="en-GB" sz="1500" u="none" cap="none" strike="noStrike">
                <a:solidFill>
                  <a:srgbClr val="434343"/>
                </a:solidFill>
                <a:latin typeface="Google Sans"/>
                <a:ea typeface="Google Sans"/>
                <a:cs typeface="Google Sans"/>
                <a:sym typeface="Google Sans"/>
              </a:rPr>
              <a:t>The project should be feasible and the team members should be capable enough, to come up with the fully functioning prototype of the same idea, if required.</a:t>
            </a:r>
            <a:endParaRPr b="0" i="0" sz="1500" u="none" cap="none" strike="noStrike">
              <a:solidFill>
                <a:srgbClr val="434343"/>
              </a:solidFill>
              <a:latin typeface="Google Sans"/>
              <a:ea typeface="Google Sans"/>
              <a:cs typeface="Google Sans"/>
              <a:sym typeface="Google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pic>
        <p:nvPicPr>
          <p:cNvPr id="106" name="Google Shape;106;p26" title="Framedede 2.png"/>
          <p:cNvPicPr preferRelativeResize="0"/>
          <p:nvPr/>
        </p:nvPicPr>
        <p:blipFill rotWithShape="1">
          <a:blip r:embed="rId3">
            <a:alphaModFix/>
          </a:blip>
          <a:srcRect b="0" l="0" r="0" t="0"/>
          <a:stretch/>
        </p:blipFill>
        <p:spPr>
          <a:xfrm>
            <a:off x="0" y="13"/>
            <a:ext cx="9144003" cy="5143476"/>
          </a:xfrm>
          <a:prstGeom prst="rect">
            <a:avLst/>
          </a:prstGeom>
          <a:noFill/>
          <a:ln>
            <a:noFill/>
          </a:ln>
        </p:spPr>
      </p:pic>
      <p:sp>
        <p:nvSpPr>
          <p:cNvPr id="107" name="Google Shape;107;p26"/>
          <p:cNvSpPr txBox="1"/>
          <p:nvPr/>
        </p:nvSpPr>
        <p:spPr>
          <a:xfrm>
            <a:off x="186200" y="3221675"/>
            <a:ext cx="8760000" cy="1680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Team Details</a:t>
            </a:r>
            <a:endParaRPr b="1" i="0" sz="18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rgbClr val="000000"/>
              </a:solidFill>
              <a:latin typeface="Google Sans"/>
              <a:ea typeface="Google Sans"/>
              <a:cs typeface="Google Sans"/>
              <a:sym typeface="Google Sans"/>
            </a:endParaRPr>
          </a:p>
          <a:p>
            <a:pPr indent="-342900" lvl="1" marL="914400" marR="0" rtl="0" algn="l">
              <a:lnSpc>
                <a:spcPct val="100000"/>
              </a:lnSpc>
              <a:spcBef>
                <a:spcPts val="0"/>
              </a:spcBef>
              <a:spcAft>
                <a:spcPts val="0"/>
              </a:spcAft>
              <a:buClr>
                <a:srgbClr val="000000"/>
              </a:buClr>
              <a:buSzPts val="1800"/>
              <a:buFont typeface="Google Sans"/>
              <a:buAutoNum type="alphaLcPeriod"/>
            </a:pPr>
            <a:r>
              <a:rPr b="1" i="0" lang="en-GB" sz="1800" u="none" cap="none" strike="noStrike">
                <a:solidFill>
                  <a:srgbClr val="000000"/>
                </a:solidFill>
                <a:latin typeface="Google Sans"/>
                <a:ea typeface="Google Sans"/>
                <a:cs typeface="Google Sans"/>
                <a:sym typeface="Google Sans"/>
              </a:rPr>
              <a:t>Team name: KLassic </a:t>
            </a:r>
            <a:endParaRPr b="1" i="0" sz="1800" u="none" cap="none" strike="noStrike">
              <a:solidFill>
                <a:srgbClr val="000000"/>
              </a:solidFill>
              <a:latin typeface="Google Sans"/>
              <a:ea typeface="Google Sans"/>
              <a:cs typeface="Google Sans"/>
              <a:sym typeface="Google Sans"/>
            </a:endParaRPr>
          </a:p>
          <a:p>
            <a:pPr indent="-342900" lvl="1" marL="914400" marR="0" rtl="0" algn="l">
              <a:lnSpc>
                <a:spcPct val="100000"/>
              </a:lnSpc>
              <a:spcBef>
                <a:spcPts val="0"/>
              </a:spcBef>
              <a:spcAft>
                <a:spcPts val="0"/>
              </a:spcAft>
              <a:buClr>
                <a:srgbClr val="000000"/>
              </a:buClr>
              <a:buSzPts val="1800"/>
              <a:buFont typeface="Google Sans"/>
              <a:buAutoNum type="alphaLcPeriod"/>
            </a:pPr>
            <a:r>
              <a:rPr b="1" i="0" lang="en-GB" sz="1800" u="none" cap="none" strike="noStrike">
                <a:solidFill>
                  <a:srgbClr val="000000"/>
                </a:solidFill>
                <a:latin typeface="Google Sans"/>
                <a:ea typeface="Google Sans"/>
                <a:cs typeface="Google Sans"/>
                <a:sym typeface="Google Sans"/>
              </a:rPr>
              <a:t>Team leader name: Abhijeet Kangane </a:t>
            </a:r>
            <a:endParaRPr b="1" i="0" sz="18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pic>
        <p:nvPicPr>
          <p:cNvPr id="112" name="Google Shape;112;p27"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13" name="Google Shape;113;p27"/>
          <p:cNvSpPr txBox="1"/>
          <p:nvPr/>
        </p:nvSpPr>
        <p:spPr>
          <a:xfrm>
            <a:off x="390000" y="775625"/>
            <a:ext cx="8364000" cy="561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i="0" lang="en-GB" sz="1800" u="none" cap="none" strike="noStrike">
                <a:solidFill>
                  <a:srgbClr val="000000"/>
                </a:solidFill>
                <a:latin typeface="Google Sans"/>
                <a:ea typeface="Google Sans"/>
                <a:cs typeface="Google Sans"/>
                <a:sym typeface="Google Sans"/>
              </a:rPr>
              <a:t>OmniSpec is a comprehensive AI-powered intelligence pipeline that bulk processes unstructured supplier datasheets (PDFs) and URLs into perfectly validated, commerce-ready catalogs. It leverages advanced Large Language Models (LLMs) and deterministic fallback engines to generate structured Golden Records with extremely high accuracy, bypassing the need for manual data entry.</a:t>
            </a:r>
            <a:endParaRPr i="0" sz="1800" u="none" cap="none" strike="noStrike">
              <a:solidFill>
                <a:srgbClr val="000000"/>
              </a:solidFill>
              <a:latin typeface="Google Sans"/>
              <a:ea typeface="Google Sans"/>
              <a:cs typeface="Google Sans"/>
              <a:sym typeface="Google Sa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8"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19" name="Google Shape;119;p28"/>
          <p:cNvSpPr txBox="1"/>
          <p:nvPr>
            <p:ph type="ctrTitle"/>
          </p:nvPr>
        </p:nvSpPr>
        <p:spPr>
          <a:xfrm>
            <a:off x="224133" y="743250"/>
            <a:ext cx="8520600" cy="2052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GB" sz="1200"/>
              <a:t>1. How does your solution enrich minimal product information?</a:t>
            </a:r>
            <a:endParaRPr sz="1200"/>
          </a:p>
          <a:p>
            <a:pPr indent="0" lvl="0" marL="0" rtl="0" algn="l">
              <a:spcBef>
                <a:spcPts val="0"/>
              </a:spcBef>
              <a:spcAft>
                <a:spcPts val="0"/>
              </a:spcAft>
              <a:buSzPts val="990"/>
              <a:buNone/>
            </a:pPr>
            <a:r>
              <a:rPr i="1" lang="en-GB" sz="1000">
                <a:solidFill>
                  <a:srgbClr val="434343"/>
                </a:solidFill>
              </a:rPr>
              <a:t>Our solution ingests minimal inputs (or raw PDFs) and fetches relevant technical sheets. It then uses a robust Hybrid AI extraction pipeline combining Groq's high-speed Qwen-27B LLM with a 100% deterministic local fallback parser to extract and structure all missing technical attributes accurately.</a:t>
            </a:r>
            <a:endParaRPr i="1" sz="1000">
              <a:solidFill>
                <a:srgbClr val="434343"/>
              </a:solidFill>
            </a:endParaRPr>
          </a:p>
          <a:p>
            <a:pPr indent="0" lvl="0" marL="0" rtl="0" algn="l">
              <a:spcBef>
                <a:spcPts val="0"/>
              </a:spcBef>
              <a:spcAft>
                <a:spcPts val="0"/>
              </a:spcAft>
              <a:buSzPts val="990"/>
              <a:buNone/>
            </a:pPr>
            <a:r>
              <a:t/>
            </a:r>
            <a:endParaRPr sz="1200"/>
          </a:p>
          <a:p>
            <a:pPr indent="0" lvl="0" marL="0" rtl="0" algn="l">
              <a:spcBef>
                <a:spcPts val="0"/>
              </a:spcBef>
              <a:spcAft>
                <a:spcPts val="0"/>
              </a:spcAft>
              <a:buSzPts val="990"/>
              <a:buNone/>
            </a:pPr>
            <a:r>
              <a:rPr lang="en-GB" sz="1200"/>
              <a:t>2. How does your solution ensure accuracy and trust in the generated product data?</a:t>
            </a:r>
            <a:endParaRPr sz="1200"/>
          </a:p>
          <a:p>
            <a:pPr indent="0" lvl="0" marL="0" rtl="0" algn="l">
              <a:spcBef>
                <a:spcPts val="0"/>
              </a:spcBef>
              <a:spcAft>
                <a:spcPts val="0"/>
              </a:spcAft>
              <a:buSzPts val="990"/>
              <a:buNone/>
            </a:pPr>
            <a:r>
              <a:rPr i="1" lang="en-GB" sz="1000">
                <a:solidFill>
                  <a:srgbClr val="434343"/>
                </a:solidFill>
              </a:rPr>
              <a:t>OmniSpec validates data across multiple extracted tables and applies a real-time Confidence Scoring algorithm. Any extracted record that scores below the 95% threshold is immediately flagged for our Human-in-the-Loop (HITL) review dashboard, ensuring 100% absolute catalog integrity before commerce publishing.</a:t>
            </a:r>
            <a:endParaRPr i="1" sz="1000">
              <a:solidFill>
                <a:srgbClr val="434343"/>
              </a:solidFill>
            </a:endParaRPr>
          </a:p>
          <a:p>
            <a:pPr indent="0" lvl="0" marL="0" rtl="0" algn="l">
              <a:spcBef>
                <a:spcPts val="0"/>
              </a:spcBef>
              <a:spcAft>
                <a:spcPts val="0"/>
              </a:spcAft>
              <a:buSzPts val="990"/>
              <a:buNone/>
            </a:pPr>
            <a:r>
              <a:rPr i="1" lang="en-GB" sz="1000">
                <a:solidFill>
                  <a:srgbClr val="434343"/>
                </a:solidFill>
              </a:rPr>
              <a:t/>
            </a:r>
            <a:endParaRPr i="1" sz="1000">
              <a:solidFill>
                <a:srgbClr val="434343"/>
              </a:solidFill>
            </a:endParaRPr>
          </a:p>
          <a:p>
            <a:pPr indent="0" lvl="0" marL="0" rtl="0" algn="l">
              <a:spcBef>
                <a:spcPts val="0"/>
              </a:spcBef>
              <a:spcAft>
                <a:spcPts val="0"/>
              </a:spcAft>
              <a:buSzPts val="990"/>
              <a:buNone/>
            </a:pPr>
            <a:r>
              <a:t/>
            </a:r>
            <a:endParaRPr sz="1200"/>
          </a:p>
          <a:p>
            <a:pPr indent="0" lvl="0" marL="0" rtl="0" algn="l">
              <a:spcBef>
                <a:spcPts val="0"/>
              </a:spcBef>
              <a:spcAft>
                <a:spcPts val="0"/>
              </a:spcAft>
              <a:buSzPts val="990"/>
              <a:buNone/>
            </a:pPr>
            <a:r>
              <a:rPr lang="en-GB" sz="1200"/>
              <a:t>3. What makes your solution scalable for enterprise product catalogs?</a:t>
            </a:r>
            <a:endParaRPr sz="1200"/>
          </a:p>
          <a:p>
            <a:pPr indent="0" lvl="0" marL="0" rtl="0" algn="l">
              <a:spcBef>
                <a:spcPts val="0"/>
              </a:spcBef>
              <a:spcAft>
                <a:spcPts val="0"/>
              </a:spcAft>
              <a:buSzPts val="990"/>
              <a:buNone/>
            </a:pPr>
            <a:r>
              <a:rPr i="1" lang="en-GB" sz="1000">
                <a:solidFill>
                  <a:srgbClr val="434343"/>
                </a:solidFill>
              </a:rPr>
              <a:t>Built on FastAPI and Next.js, our microservices architecture allows asynchronous bulk processing. It relies on PyMuPDF and BeautifulSoup4 to dynamically normalize any unstructured document format before passing it to the AI engine. This ensures infinite scalability without needing manual mapping rules for new manufacturers.</a:t>
            </a:r>
            <a:endParaRPr i="1" sz="1000">
              <a:solidFill>
                <a:srgbClr val="434343"/>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9"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25" name="Google Shape;125;p29"/>
          <p:cNvSpPr txBox="1"/>
          <p:nvPr/>
        </p:nvSpPr>
        <p:spPr>
          <a:xfrm>
            <a:off x="183250" y="818550"/>
            <a:ext cx="8784300" cy="14193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Opportunities</a:t>
            </a:r>
            <a:endParaRPr b="0" i="0" sz="1800" u="none" cap="none" strike="noStrike">
              <a:solidFill>
                <a:srgbClr val="000000"/>
              </a:solidFill>
              <a:latin typeface="Google Sans"/>
              <a:ea typeface="Google Sans"/>
              <a:cs typeface="Google Sans"/>
              <a:sym typeface="Google Sans"/>
            </a:endParaRPr>
          </a:p>
          <a:p>
            <a:pPr indent="-342900" lvl="1" marL="914400" marR="0" rtl="0" algn="l">
              <a:lnSpc>
                <a:spcPct val="115000"/>
              </a:lnSpc>
              <a:spcBef>
                <a:spcPts val="0"/>
              </a:spcBef>
              <a:spcAft>
                <a:spcPts val="0"/>
              </a:spcAft>
              <a:buClr>
                <a:srgbClr val="000000"/>
              </a:buClr>
              <a:buSzPts val="1800"/>
              <a:buFont typeface="Google Sans"/>
              <a:buAutoNum type="alphaLcPeriod"/>
            </a:pPr>
            <a:r>
              <a:rPr b="0" i="0" lang="en-GB" sz="1800" u="none" cap="none" strike="noStrike">
                <a:solidFill>
                  <a:srgbClr val="000000"/>
                </a:solidFill>
                <a:latin typeface="Google Sans"/>
                <a:ea typeface="Google Sans"/>
                <a:cs typeface="Google Sans"/>
                <a:sym typeface="Google Sans"/>
              </a:rPr>
              <a:t>Unlike rigid parsers, OmniSpec dynamically adapts to any manufacturer's datasheet layout automatically. Unlike pure API-dependent LLM approaches which crash frequently, our hybrid engine guarantees 100% reliable local fallback during network outages, ensuring uninterrupted bulk processing.</a:t>
            </a:r>
            <a:endParaRPr b="0" i="0" sz="1800" u="none" cap="none" strike="noStrike">
              <a:solidFill>
                <a:srgbClr val="000000"/>
              </a:solidFill>
              <a:latin typeface="Google Sans"/>
              <a:ea typeface="Google Sans"/>
              <a:cs typeface="Google Sans"/>
              <a:sym typeface="Google Sans"/>
            </a:endParaRPr>
          </a:p>
          <a:p>
            <a:pPr indent="-342900" lvl="1" marL="914400" marR="0" rtl="0" algn="l">
              <a:lnSpc>
                <a:spcPct val="115000"/>
              </a:lnSpc>
              <a:spcBef>
                <a:spcPts val="0"/>
              </a:spcBef>
              <a:spcAft>
                <a:spcPts val="0"/>
              </a:spcAft>
              <a:buClr>
                <a:srgbClr val="000000"/>
              </a:buClr>
              <a:buSzPts val="1800"/>
              <a:buFont typeface="Google Sans"/>
              <a:buAutoNum type="alphaLcPeriod"/>
            </a:pPr>
            <a:r>
              <a:rPr b="0" i="0" lang="en-GB" sz="1800" u="none" cap="none" strike="noStrike">
                <a:solidFill>
                  <a:srgbClr val="000000"/>
                </a:solidFill>
                <a:latin typeface="Google Sans"/>
                <a:ea typeface="Google Sans"/>
                <a:cs typeface="Google Sans"/>
                <a:sym typeface="Google Sans"/>
              </a:rPr>
              <a:t>It directly and efficiently solves Unilog's challenge of converting scattered dark data into accurate product intelligence by automating the entire lifecycle: Extraction, Confidence Validation, Human Review, and Standardized Taxonomy Prediction (UNSPSC).</a:t>
            </a:r>
            <a:r>
              <a:rPr lang="en-GB" sz="1800">
                <a:latin typeface="Google Sans"/>
                <a:ea typeface="Google Sans"/>
                <a:cs typeface="Google Sans"/>
                <a:sym typeface="Google Sans"/>
              </a:rPr>
              <a:t/>
            </a:r>
            <a:r>
              <a:rPr b="0" i="0" lang="en-GB" sz="1800" u="none" cap="none" strike="noStrike">
                <a:solidFill>
                  <a:srgbClr val="000000"/>
                </a:solidFill>
                <a:latin typeface="Google Sans"/>
                <a:ea typeface="Google Sans"/>
                <a:cs typeface="Google Sans"/>
                <a:sym typeface="Google Sans"/>
              </a:rPr>
              <a:t/>
            </a:r>
            <a:endParaRPr b="0" i="0" sz="1800" u="none" cap="none" strike="noStrike">
              <a:solidFill>
                <a:srgbClr val="000000"/>
              </a:solidFill>
              <a:latin typeface="Google Sans"/>
              <a:ea typeface="Google Sans"/>
              <a:cs typeface="Google Sans"/>
              <a:sym typeface="Google Sans"/>
            </a:endParaRPr>
          </a:p>
          <a:p>
            <a:pPr indent="-342900" lvl="1" marL="914400" marR="0" rtl="0" algn="l">
              <a:lnSpc>
                <a:spcPct val="115000"/>
              </a:lnSpc>
              <a:spcBef>
                <a:spcPts val="0"/>
              </a:spcBef>
              <a:spcAft>
                <a:spcPts val="0"/>
              </a:spcAft>
              <a:buClr>
                <a:srgbClr val="000000"/>
              </a:buClr>
              <a:buSzPts val="1800"/>
              <a:buFont typeface="Google Sans"/>
              <a:buAutoNum type="alphaLcPeriod"/>
            </a:pPr>
            <a:r>
              <a:rPr b="0" i="0" lang="en-GB" sz="1800" u="none" cap="none" strike="noStrike">
                <a:solidFill>
                  <a:srgbClr val="000000"/>
                </a:solidFill>
                <a:latin typeface="Google Sans"/>
                <a:ea typeface="Google Sans"/>
                <a:cs typeface="Google Sans"/>
                <a:sym typeface="Google Sans"/>
              </a:rPr>
              <a:t>Zero-API-Dependency Fallback Mode for 100% uptime, Ultra-Fast asynchronous processing, and an automated UNSPSC taxonomy prediction engine natively integrated into a premium sci-fi dashboard.</a:t>
            </a:r>
            <a:endParaRPr sz="1800">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595959"/>
              </a:solidFill>
              <a:latin typeface="Google Sans"/>
              <a:ea typeface="Google Sans"/>
              <a:cs typeface="Google Sans"/>
              <a:sym typeface="Google Sans"/>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30"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31" name="Google Shape;131;p30"/>
          <p:cNvSpPr txBox="1"/>
          <p:nvPr/>
        </p:nvSpPr>
        <p:spPr>
          <a:xfrm>
            <a:off x="195475" y="855225"/>
            <a:ext cx="8698800" cy="549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 Multi-modal Ingestion (Drag-and-Drop PDFs, Direct URLs)
- Hybrid AI Extraction Pipeline (Groq LLM + Local Deterministic Fallback)
- Automated UNSPSC Taxonomy Categorization
- Real-time Confidence Scoring and Data Triangulation
- Human-in-the-Loop (HITL) Enrichment Dashboard
- Fully Responsive Sci-Fi UI for industrial users</a:t>
            </a:r>
            <a:endParaRPr b="0" i="0" sz="1800" u="none" cap="none" strike="noStrike">
              <a:solidFill>
                <a:srgbClr val="000000"/>
              </a:solidFill>
              <a:latin typeface="Google Sans"/>
              <a:ea typeface="Google Sans"/>
              <a:cs typeface="Google Sans"/>
              <a:sym typeface="Google San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pic>
        <p:nvPicPr>
          <p:cNvPr id="136" name="Google Shape;136;p31"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37" name="Google Shape;137;p31"/>
          <p:cNvSpPr txBox="1"/>
          <p:nvPr/>
        </p:nvSpPr>
        <p:spPr>
          <a:xfrm>
            <a:off x="195475" y="830775"/>
            <a:ext cx="8772000" cy="513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Process flow diagram or Use-case diagram</a:t>
            </a:r>
            <a:endParaRPr b="0" i="0" sz="1800" u="none" cap="none" strike="noStrike">
              <a:solidFill>
                <a:srgbClr val="000000"/>
              </a:solidFill>
              <a:latin typeface="Google Sans"/>
              <a:ea typeface="Google Sans"/>
              <a:cs typeface="Google Sans"/>
              <a:sym typeface="Google Sans"/>
            </a:endParaRPr>
          </a:p>
        </p:txBody>
      </p:sp>
      <p:pic>
        <p:nvPicPr>
          <p:cNvPr id="138" name="Picture 137" descr="process_flow_diagram_1787479221560.jpg"/>
          <p:cNvPicPr>
            <a:picLocks noChangeAspect="1"/>
          </p:cNvPicPr>
          <p:nvPr/>
        </p:nvPicPr>
        <p:blipFill>
          <a:blip r:embed="rId4"/>
          <a:stretch>
            <a:fillRect/>
          </a:stretch>
        </p:blipFill>
        <p:spPr>
          <a:xfrm>
            <a:off x="1371600" y="1371600"/>
            <a:ext cx="6400800" cy="35725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pic>
        <p:nvPicPr>
          <p:cNvPr id="142" name="Google Shape;142;p32"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43" name="Google Shape;143;p32"/>
          <p:cNvSpPr txBox="1"/>
          <p:nvPr/>
        </p:nvSpPr>
        <p:spPr>
          <a:xfrm>
            <a:off x="207700" y="879650"/>
            <a:ext cx="8723100" cy="598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Wireframes/Mock diagrams of the proposed solution (optional)</a:t>
            </a:r>
            <a:endParaRPr b="0" i="0" sz="1800" u="none" cap="none" strike="noStrike">
              <a:solidFill>
                <a:srgbClr val="000000"/>
              </a:solidFill>
              <a:latin typeface="Google Sans"/>
              <a:ea typeface="Google Sans"/>
              <a:cs typeface="Google Sans"/>
              <a:sym typeface="Google Sans"/>
            </a:endParaRPr>
          </a:p>
        </p:txBody>
      </p:sp>
      <p:pic>
        <p:nvPicPr>
          <p:cNvPr id="144" name="Picture 143" descr="landing_page_1787479256961.png"/>
          <p:cNvPicPr>
            <a:picLocks noChangeAspect="1"/>
          </p:cNvPicPr>
          <p:nvPr/>
        </p:nvPicPr>
        <p:blipFill>
          <a:blip r:embed="rId4"/>
          <a:stretch>
            <a:fillRect/>
          </a:stretch>
        </p:blipFill>
        <p:spPr>
          <a:xfrm>
            <a:off x="1371600" y="1371600"/>
            <a:ext cx="6400800" cy="379858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33"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49" name="Google Shape;149;p33"/>
          <p:cNvSpPr txBox="1"/>
          <p:nvPr/>
        </p:nvSpPr>
        <p:spPr>
          <a:xfrm>
            <a:off x="171050" y="867425"/>
            <a:ext cx="8820900" cy="598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Architecture diagram of the proposed solution</a:t>
            </a:r>
            <a:endParaRPr b="0" i="0" sz="1800" u="none" cap="none" strike="noStrike">
              <a:solidFill>
                <a:srgbClr val="000000"/>
              </a:solidFill>
              <a:latin typeface="Google Sans"/>
              <a:ea typeface="Google Sans"/>
              <a:cs typeface="Google Sans"/>
              <a:sym typeface="Google Sans"/>
            </a:endParaRPr>
          </a:p>
        </p:txBody>
      </p:sp>
      <p:pic>
        <p:nvPicPr>
          <p:cNvPr id="150" name="Picture 149" descr="architecture_diagram_1787479236567.jpg"/>
          <p:cNvPicPr>
            <a:picLocks noChangeAspect="1"/>
          </p:cNvPicPr>
          <p:nvPr/>
        </p:nvPicPr>
        <p:blipFill>
          <a:blip r:embed="rId4"/>
          <a:stretch>
            <a:fillRect/>
          </a:stretch>
        </p:blipFill>
        <p:spPr>
          <a:xfrm>
            <a:off x="1371600" y="1371600"/>
            <a:ext cx="6400800" cy="35725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34"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55" name="Google Shape;155;p34"/>
          <p:cNvSpPr txBox="1"/>
          <p:nvPr/>
        </p:nvSpPr>
        <p:spPr>
          <a:xfrm>
            <a:off x="158825" y="855225"/>
            <a:ext cx="8784300" cy="1128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Frontend: Next.js 15, React 19, Tailwind CSS, Framer Motion, React Three Fiber
Backend: FastAPI, Uvicorn, Python 3.10+
AI/Parsing: Groq API (Qwen-27B), PyMuPDF, BeautifulSoup4
Tooling: Git, Eslint, Vercel</a:t>
            </a:r>
            <a:endParaRPr b="0" i="0" sz="1200" u="none" cap="none" strike="noStrike">
              <a:solidFill>
                <a:srgbClr val="000000"/>
              </a:solidFill>
              <a:latin typeface="Google Sans"/>
              <a:ea typeface="Google Sans"/>
              <a:cs typeface="Google Sans"/>
              <a:sym typeface="Google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pic>
        <p:nvPicPr>
          <p:cNvPr id="160" name="Google Shape;160;p35"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61" name="Google Shape;161;p35"/>
          <p:cNvSpPr txBox="1"/>
          <p:nvPr/>
        </p:nvSpPr>
        <p:spPr>
          <a:xfrm>
            <a:off x="158825" y="818550"/>
            <a:ext cx="8845200" cy="63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Extremely Low / Near Zero. By utilizing high-efficiency open-source models (Llama3/Qwen) via ultra-fast inference APIs (Groq), the operational processing cost per 10,000 SKUs is a fraction of traditional manual data entry or commercial LLM (GPT-4) alternatives.</a:t>
            </a:r>
            <a:endParaRPr b="0" i="0" sz="1800" u="none" cap="none" strike="noStrike">
              <a:solidFill>
                <a:srgbClr val="000000"/>
              </a:solidFill>
              <a:latin typeface="Google Sans"/>
              <a:ea typeface="Google Sans"/>
              <a:cs typeface="Google Sans"/>
              <a:sym typeface="Google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pic>
        <p:nvPicPr>
          <p:cNvPr id="166" name="Google Shape;166;p36"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67" name="Google Shape;167;p36"/>
          <p:cNvSpPr txBox="1"/>
          <p:nvPr/>
        </p:nvSpPr>
        <p:spPr>
          <a:xfrm>
            <a:off x="219900" y="855225"/>
            <a:ext cx="8723100" cy="598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Snapshots of the MVP</a:t>
            </a:r>
            <a:endParaRPr b="0" i="0" sz="1800" u="none" cap="none" strike="noStrike">
              <a:solidFill>
                <a:srgbClr val="000000"/>
              </a:solidFill>
              <a:latin typeface="Google Sans"/>
              <a:ea typeface="Google Sans"/>
              <a:cs typeface="Google Sans"/>
              <a:sym typeface="Google Sans"/>
            </a:endParaRPr>
          </a:p>
        </p:txBody>
      </p:sp>
      <p:pic>
        <p:nvPicPr>
          <p:cNvPr id="168" name="Picture 167" descr="dashboard_1787479335882.png"/>
          <p:cNvPicPr>
            <a:picLocks noChangeAspect="1"/>
          </p:cNvPicPr>
          <p:nvPr/>
        </p:nvPicPr>
        <p:blipFill>
          <a:blip r:embed="rId4"/>
          <a:stretch>
            <a:fillRect/>
          </a:stretch>
        </p:blipFill>
        <p:spPr>
          <a:xfrm>
            <a:off x="1371600" y="1371600"/>
            <a:ext cx="6400800" cy="379858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7"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73" name="Google Shape;173;p37"/>
          <p:cNvSpPr txBox="1"/>
          <p:nvPr/>
        </p:nvSpPr>
        <p:spPr>
          <a:xfrm>
            <a:off x="109950" y="781900"/>
            <a:ext cx="8894100" cy="696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Our immediate future roadmap includes:
1. Direct eCommerce platform integrations (e.g., Shopify, Magento ERP plugins).
2. An automated web-crawler that actively monitors supplier websites for real-time datasheet updates and pushes delta changes directly to the Golden Records.</a:t>
            </a:r>
            <a:endParaRPr b="0" i="0" sz="1800" u="none" cap="none" strike="noStrike">
              <a:solidFill>
                <a:srgbClr val="000000"/>
              </a:solidFill>
              <a:latin typeface="Google Sans"/>
              <a:ea typeface="Google Sans"/>
              <a:cs typeface="Google Sans"/>
              <a:sym typeface="Google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pic>
        <p:nvPicPr>
          <p:cNvPr id="178" name="Google Shape;178;p38" title="Framededede 3.png"/>
          <p:cNvPicPr preferRelativeResize="0"/>
          <p:nvPr/>
        </p:nvPicPr>
        <p:blipFill>
          <a:blip r:embed="rId3">
            <a:alphaModFix/>
          </a:blip>
          <a:stretch>
            <a:fillRect/>
          </a:stretch>
        </p:blipFill>
        <p:spPr>
          <a:xfrm>
            <a:off x="0" y="0"/>
            <a:ext cx="9144003" cy="5143501"/>
          </a:xfrm>
          <a:prstGeom prst="rect">
            <a:avLst/>
          </a:prstGeom>
          <a:noFill/>
          <a:ln>
            <a:noFill/>
          </a:ln>
        </p:spPr>
      </p:pic>
      <p:sp>
        <p:nvSpPr>
          <p:cNvPr id="179" name="Google Shape;179;p38"/>
          <p:cNvSpPr txBox="1"/>
          <p:nvPr/>
        </p:nvSpPr>
        <p:spPr>
          <a:xfrm>
            <a:off x="146600" y="843000"/>
            <a:ext cx="8833200" cy="63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GB" sz="1800" u="none" cap="none" strike="noStrike">
                <a:solidFill>
                  <a:srgbClr val="000000"/>
                </a:solidFill>
                <a:latin typeface="Google Sans"/>
                <a:ea typeface="Google Sans"/>
                <a:cs typeface="Google Sans"/>
                <a:sym typeface="Google Sans"/>
              </a:rPr>
              <a:t>Provide links to your:</a:t>
            </a:r>
            <a:endParaRPr b="0" i="0" sz="18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Google Sans"/>
              <a:ea typeface="Google Sans"/>
              <a:cs typeface="Google Sans"/>
              <a:sym typeface="Google Sans"/>
            </a:endParaRPr>
          </a:p>
          <a:p>
            <a:pPr indent="-342900" lvl="0" marL="457200" marR="0" rtl="0" algn="l">
              <a:lnSpc>
                <a:spcPct val="100000"/>
              </a:lnSpc>
              <a:spcBef>
                <a:spcPts val="0"/>
              </a:spcBef>
              <a:spcAft>
                <a:spcPts val="0"/>
              </a:spcAft>
              <a:buClr>
                <a:srgbClr val="000000"/>
              </a:buClr>
              <a:buSzPts val="1800"/>
              <a:buFont typeface="Google Sans"/>
              <a:buAutoNum type="arabicPeriod"/>
            </a:pPr>
            <a:r>
              <a:rPr b="0" i="0" lang="en-GB" sz="1800" u="none" cap="none" strike="noStrike">
                <a:solidFill>
                  <a:srgbClr val="000000"/>
                </a:solidFill>
                <a:latin typeface="Google Sans"/>
                <a:ea typeface="Google Sans"/>
                <a:cs typeface="Google Sans"/>
                <a:sym typeface="Google Sans"/>
              </a:rPr>
              <a:t>GitHub: https://github.com/Abhi666-max/OmniSpec</a:t>
            </a:r>
            <a:endParaRPr b="0" i="0" sz="1800" u="none" cap="none" strike="noStrike">
              <a:solidFill>
                <a:srgbClr val="000000"/>
              </a:solidFill>
              <a:latin typeface="Google Sans"/>
              <a:ea typeface="Google Sans"/>
              <a:cs typeface="Google Sans"/>
              <a:sym typeface="Google Sans"/>
            </a:endParaRPr>
          </a:p>
          <a:p>
            <a:pPr indent="-342900" lvl="0" marL="457200" marR="0" rtl="0" algn="l">
              <a:lnSpc>
                <a:spcPct val="100000"/>
              </a:lnSpc>
              <a:spcBef>
                <a:spcPts val="0"/>
              </a:spcBef>
              <a:spcAft>
                <a:spcPts val="0"/>
              </a:spcAft>
              <a:buClr>
                <a:srgbClr val="000000"/>
              </a:buClr>
              <a:buSzPts val="1800"/>
              <a:buFont typeface="Google Sans"/>
              <a:buAutoNum type="arabicPeriod"/>
            </a:pPr>
            <a:r>
              <a:rPr b="0" i="0" lang="en-GB" sz="1800" u="none" cap="none" strike="noStrike">
                <a:solidFill>
                  <a:srgbClr val="000000"/>
                </a:solidFill>
                <a:latin typeface="Google Sans"/>
                <a:ea typeface="Google Sans"/>
                <a:cs typeface="Google Sans"/>
                <a:sym typeface="Google Sans"/>
              </a:rPr>
              <a:t>Demo Video: https://youtu.be/775Z2EbCy8E</a:t>
            </a:r>
            <a:endParaRPr b="0" i="0" sz="1800" u="none" cap="none" strike="noStrike">
              <a:solidFill>
                <a:srgbClr val="000000"/>
              </a:solidFill>
              <a:latin typeface="Google Sans"/>
              <a:ea typeface="Google Sans"/>
              <a:cs typeface="Google Sans"/>
              <a:sym typeface="Google Sans"/>
            </a:endParaRPr>
          </a:p>
          <a:p>
            <a:pPr indent="-342900" lvl="0" marL="457200" marR="0" rtl="0" algn="l">
              <a:lnSpc>
                <a:spcPct val="100000"/>
              </a:lnSpc>
              <a:spcBef>
                <a:spcPts val="0"/>
              </a:spcBef>
              <a:spcAft>
                <a:spcPts val="0"/>
              </a:spcAft>
              <a:buSzPts val="1800"/>
              <a:buFont typeface="Google Sans"/>
              <a:buAutoNum type="arabicPeriod"/>
            </a:pPr>
            <a:r>
              <a:rPr lang="en-GB" sz="1800">
                <a:latin typeface="Google Sans"/>
                <a:ea typeface="Google Sans"/>
                <a:cs typeface="Google Sans"/>
                <a:sym typeface="Google Sans"/>
              </a:rPr>
              <a:t>Prototype Link: (To be added post-deployment)</a:t>
            </a:r>
            <a:endParaRPr sz="1800">
              <a:latin typeface="Google Sans"/>
              <a:ea typeface="Google Sans"/>
              <a:cs typeface="Google Sans"/>
              <a:sym typeface="Google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pic>
        <p:nvPicPr>
          <p:cNvPr id="184" name="Google Shape;184;p39" title="Framededede 4.png"/>
          <p:cNvPicPr preferRelativeResize="0"/>
          <p:nvPr/>
        </p:nvPicPr>
        <p:blipFill>
          <a:blip r:embed="rId3">
            <a:alphaModFix/>
          </a:blip>
          <a:stretch>
            <a:fillRect/>
          </a:stretch>
        </p:blipFill>
        <p:spPr>
          <a:xfrm>
            <a:off x="0" y="0"/>
            <a:ext cx="9144018" cy="51435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